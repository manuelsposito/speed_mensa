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Century Gothic" panose="020B0502020202020204" pitchFamily="34" charset="0"/>
      <p:regular r:id="rId7"/>
      <p:bold r:id="rId8"/>
      <p:italic r:id="rId9"/>
      <p:boldItalic r:id="rId10"/>
    </p:embeddedFon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370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554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164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664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217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562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050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401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859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119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116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063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4628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8187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907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0879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8236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053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755595" y="2875002"/>
            <a:ext cx="668080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Speed Mensa</a:t>
            </a:r>
            <a:endParaRPr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71500" y="2247900"/>
            <a:ext cx="52863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Lunghe</a:t>
            </a:r>
            <a:r>
              <a:rPr lang="en-US" sz="1500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code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, moduli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cartacei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e tempo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perso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: il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sistema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attuale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di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prenotazione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pranzo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in mensa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può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far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perdere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anche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20 </a:t>
            </a:r>
            <a:r>
              <a:rPr lang="en-US" sz="1500" b="1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minuti</a:t>
            </a:r>
            <a:r>
              <a:rPr lang="en-US" sz="1500" b="1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di </a:t>
            </a:r>
            <a:r>
              <a:rPr lang="en-US" sz="1500" b="1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lezione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30509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Molti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studenti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vedendo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la fila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interminabile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rinunciano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tutto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pranzo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Questo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processo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è lento, poco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sostenibile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inefficiente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651400" y="984325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Il </a:t>
            </a:r>
            <a:r>
              <a:rPr lang="en-US" sz="3600" b="1" i="0" strike="noStrike" cap="none" dirty="0" err="1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Problema</a:t>
            </a:r>
            <a:r>
              <a:rPr lang="en-US" sz="3600" b="1" i="0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b="1" i="0" strike="noStrike" cap="none" dirty="0" err="1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Attuale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D3E6B06A-371F-2F72-72A0-DE625E443952}"/>
              </a:ext>
            </a:extLst>
          </p:cNvPr>
          <p:cNvSpPr/>
          <p:nvPr/>
        </p:nvSpPr>
        <p:spPr>
          <a:xfrm>
            <a:off x="6938269" y="465416"/>
            <a:ext cx="4788063" cy="296358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7" t="-114738" r="177" b="-135030"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30C191AB-8F15-0C2D-C51F-448923C52A22}"/>
              </a:ext>
            </a:extLst>
          </p:cNvPr>
          <p:cNvSpPr/>
          <p:nvPr/>
        </p:nvSpPr>
        <p:spPr>
          <a:xfrm>
            <a:off x="6938284" y="3947909"/>
            <a:ext cx="4788048" cy="2693277"/>
          </a:xfrm>
          <a:prstGeom prst="ellipse">
            <a:avLst/>
          </a:prstGeom>
          <a:blipFill>
            <a:blip r:embed="rId4"/>
            <a:srcRect/>
            <a:stretch>
              <a:fillRect l="-3" t="-33727" r="-7424" b="-35299"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867594" y="246697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●</a:t>
            </a:r>
            <a:r>
              <a:rPr lang="en-US" sz="2100" b="1" i="0" u="none" strike="noStrike" cap="none" dirty="0">
                <a:latin typeface="Poppins"/>
                <a:ea typeface="Poppins"/>
                <a:cs typeface="Poppins"/>
                <a:sym typeface="Poppins"/>
              </a:rPr>
              <a:t> Lato </a:t>
            </a:r>
            <a:r>
              <a:rPr lang="en-US" sz="2100" b="1" i="0" u="none" strike="noStrike" cap="none" dirty="0" err="1">
                <a:latin typeface="Poppins"/>
                <a:ea typeface="Poppins"/>
                <a:cs typeface="Poppins"/>
                <a:sym typeface="Poppins"/>
              </a:rPr>
              <a:t>Studente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6630219" y="246697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●</a:t>
            </a:r>
            <a:r>
              <a:rPr lang="en-US" sz="21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>
                <a:latin typeface="Poppins"/>
                <a:ea typeface="Poppins"/>
                <a:cs typeface="Poppins"/>
                <a:sym typeface="Poppins"/>
              </a:rPr>
              <a:t>Lato </a:t>
            </a:r>
            <a:r>
              <a:rPr lang="en-US" sz="2100" b="1" i="0" u="none" strike="noStrike" cap="none" dirty="0" err="1">
                <a:latin typeface="Poppins"/>
                <a:ea typeface="Poppins"/>
                <a:cs typeface="Poppins"/>
                <a:sym typeface="Poppins"/>
              </a:rPr>
              <a:t>Gestore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153344" y="3219450"/>
            <a:ext cx="4219575" cy="32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Accede con SPID o CIE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1153344" y="3696286"/>
            <a:ext cx="4219575" cy="32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Visualizza il menu del giorno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53344" y="4173123"/>
            <a:ext cx="4219575" cy="32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Prenota, paga e riceve il QR code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53344" y="4649959"/>
            <a:ext cx="4219575" cy="32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Riceve la notifica di "pasto pronto"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53344" y="5126795"/>
            <a:ext cx="42195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Ritira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mostrando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il QR code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6946044" y="3293250"/>
            <a:ext cx="4189500" cy="25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Aggiorna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il </a:t>
            </a:r>
            <a:r>
              <a:rPr lang="en-US" sz="1500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menù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giornaliero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946082" y="4260461"/>
            <a:ext cx="4189500" cy="349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Visualizza le prenotazioni in tempo reale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946057" y="4760412"/>
            <a:ext cx="4189500" cy="25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Scannerizza il QR code del cliente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46044" y="5163028"/>
            <a:ext cx="4189500" cy="25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Gestisce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distribuzione</a:t>
            </a:r>
            <a:r>
              <a:rPr lang="en-US" sz="15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veloce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6946070" y="3805737"/>
            <a:ext cx="4189500" cy="289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1500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Gestisce</a:t>
            </a:r>
            <a:r>
              <a:rPr lang="en-US" sz="1500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500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pagamenti</a:t>
            </a:r>
            <a:r>
              <a:rPr lang="en-US" sz="1500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e lo </a:t>
            </a:r>
            <a:r>
              <a:rPr lang="en-US" sz="1500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stato</a:t>
            </a:r>
            <a:r>
              <a:rPr lang="en-US" sz="1500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degli </a:t>
            </a:r>
            <a:r>
              <a:rPr lang="en-US" sz="1500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ordini</a:t>
            </a:r>
            <a:endParaRPr dirty="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DF4F6613-749B-001A-5B57-E144AFF9EA4E}"/>
              </a:ext>
            </a:extLst>
          </p:cNvPr>
          <p:cNvGrpSpPr/>
          <p:nvPr/>
        </p:nvGrpSpPr>
        <p:grpSpPr>
          <a:xfrm>
            <a:off x="877119" y="3244851"/>
            <a:ext cx="190500" cy="2233898"/>
            <a:chOff x="877119" y="3244851"/>
            <a:chExt cx="190500" cy="2233898"/>
          </a:xfrm>
        </p:grpSpPr>
        <p:sp>
          <p:nvSpPr>
            <p:cNvPr id="118" name="Google Shape;118;p15"/>
            <p:cNvSpPr txBox="1"/>
            <p:nvPr/>
          </p:nvSpPr>
          <p:spPr>
            <a:xfrm>
              <a:off x="877119" y="3244851"/>
              <a:ext cx="190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>
                <a:solidFill>
                  <a:srgbClr val="0070C0"/>
                </a:solidFill>
              </a:endParaRPr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877119" y="3692526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877119" y="4140201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877119" y="4587876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877119" y="5035551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</p:grpSp>
      <p:sp>
        <p:nvSpPr>
          <p:cNvPr id="128" name="Google Shape;128;p15"/>
          <p:cNvSpPr txBox="1"/>
          <p:nvPr/>
        </p:nvSpPr>
        <p:spPr>
          <a:xfrm>
            <a:off x="515100" y="571500"/>
            <a:ext cx="11161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La Nostra </a:t>
            </a:r>
            <a:r>
              <a:rPr lang="en-US" sz="3600" b="1" dirty="0" err="1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Soluzione</a:t>
            </a:r>
            <a:r>
              <a:rPr lang="en-US" sz="3600" b="1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: Speed Mensa</a:t>
            </a:r>
            <a:endParaRPr dirty="0">
              <a:solidFill>
                <a:srgbClr val="0070C0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F7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653729A5-68B1-3401-EE72-0206EA5EDE64}"/>
              </a:ext>
            </a:extLst>
          </p:cNvPr>
          <p:cNvGrpSpPr/>
          <p:nvPr/>
        </p:nvGrpSpPr>
        <p:grpSpPr>
          <a:xfrm>
            <a:off x="6630219" y="3219450"/>
            <a:ext cx="190500" cy="2233898"/>
            <a:chOff x="6630219" y="3219450"/>
            <a:chExt cx="190500" cy="2233898"/>
          </a:xfrm>
        </p:grpSpPr>
        <p:sp>
          <p:nvSpPr>
            <p:cNvPr id="124" name="Google Shape;124;p15"/>
            <p:cNvSpPr txBox="1"/>
            <p:nvPr/>
          </p:nvSpPr>
          <p:spPr>
            <a:xfrm>
              <a:off x="6630219" y="3667125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6630219" y="4114800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6630219" y="4562475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6630219" y="5010150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  <p:sp>
          <p:nvSpPr>
            <p:cNvPr id="7" name="Google Shape;124;p15">
              <a:extLst>
                <a:ext uri="{FF2B5EF4-FFF2-40B4-BE49-F238E27FC236}">
                  <a16:creationId xmlns:a16="http://schemas.microsoft.com/office/drawing/2014/main" id="{FB256C0A-8426-A75A-526B-7131A97830CB}"/>
                </a:ext>
              </a:extLst>
            </p:cNvPr>
            <p:cNvSpPr txBox="1"/>
            <p:nvPr/>
          </p:nvSpPr>
          <p:spPr>
            <a:xfrm>
              <a:off x="6630219" y="3219450"/>
              <a:ext cx="190500" cy="443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US" b="1" dirty="0">
                  <a:solidFill>
                    <a:srgbClr val="0070C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2381250" y="2023467"/>
            <a:ext cx="8001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Meno Code:</a:t>
            </a:r>
            <a:r>
              <a:rPr lang="en-US" sz="1800" b="0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Riduzione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drastica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dei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tempi di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attesa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e delle file,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restituendo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tempo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prezioso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agli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studenti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2343150" y="3011233"/>
            <a:ext cx="80772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Zero Carta:</a:t>
            </a:r>
            <a:r>
              <a:rPr lang="en-US" sz="1800" b="0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processo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100%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digitale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eliminando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moduli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cartacei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per un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servizio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più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moderno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sostenibile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2362200" y="3890175"/>
            <a:ext cx="80391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Sconto</a:t>
            </a:r>
            <a:r>
              <a:rPr lang="en-US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Automatico</a:t>
            </a:r>
            <a:r>
              <a:rPr lang="en-US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Verifica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immediata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diritto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allo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sconto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studenti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grazie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all'integrazione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con SPID/CIE.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2324100" y="4769116"/>
            <a:ext cx="81153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Più</a:t>
            </a:r>
            <a:r>
              <a:rPr lang="en-US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Veloce ed </a:t>
            </a:r>
            <a:r>
              <a:rPr lang="en-US" sz="1800" b="1" i="0" u="none" strike="noStrike" cap="none" dirty="0" err="1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Efficiente</a:t>
            </a:r>
            <a:r>
              <a:rPr lang="en-US" sz="1800" b="1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L'intero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servizio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diventa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più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rapido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, semplice e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gestibile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sia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per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gli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studenti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che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 per il </a:t>
            </a:r>
            <a:r>
              <a:rPr lang="en-US" sz="1800" b="0" i="0" u="none" strike="noStrike" cap="none" dirty="0" err="1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personale</a:t>
            </a:r>
            <a:r>
              <a:rPr lang="en-US" sz="1800" b="0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548400" y="758496"/>
            <a:ext cx="1109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I </a:t>
            </a:r>
            <a:r>
              <a:rPr lang="en-US" sz="3600" b="1" i="0" u="none" strike="noStrike" cap="none" dirty="0" err="1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Vantaggi</a:t>
            </a:r>
            <a:r>
              <a:rPr lang="en-US" sz="3600" b="1" i="0" u="none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 di Speed Mensa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te">
  <a:themeElements>
    <a:clrScheme name="Rete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Ret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e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TM03457485[[fn=Rete]]</Template>
  <TotalTime>0</TotalTime>
  <Words>222</Words>
  <Application>Microsoft Office PowerPoint</Application>
  <PresentationFormat>Widescreen</PresentationFormat>
  <Paragraphs>32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0" baseType="lpstr">
      <vt:lpstr>Arial</vt:lpstr>
      <vt:lpstr>Lato</vt:lpstr>
      <vt:lpstr>Century Gothic</vt:lpstr>
      <vt:lpstr>Poppins</vt:lpstr>
      <vt:lpstr>Calibri</vt:lpstr>
      <vt:lpstr>Rete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Manuel Sposito</dc:creator>
  <cp:lastModifiedBy>MANUEL SPOSITO</cp:lastModifiedBy>
  <cp:revision>10</cp:revision>
  <dcterms:modified xsi:type="dcterms:W3CDTF">2025-11-12T14:02:06Z</dcterms:modified>
</cp:coreProperties>
</file>